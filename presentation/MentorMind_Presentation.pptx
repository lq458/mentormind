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snapToObjects="1">
      <p:cViewPr varScale="1">
        <p:scale>
          <a:sx n="119" d="100"/>
          <a:sy n="119" d="100"/>
        </p:scale>
        <p:origin x="4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0480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everyone. MentorMind is an AI platform that builds personalized study plans for Chinese students. In 10 minutes I will show you how we diagnose knowledge gaps and generate adaptive learning paths, plus a quick live demo.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China has 46 million exam track students. Private tutoring costs families thousands per year but remains generic. A teacher with 50 students cannot deeply diagnose each one. Students end up restudying mastered topics while their real gaps go unaddressed.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steps. First an AI chats with the student, adapting questions based on answers. Second we build a personal knowledge graph. Third a manager critic AI pair generates and checks study plans. Fourth the student engages through five active learning modes instead of passive reading.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Next.js frontend with Clerk auth. FastAPI backend with about 90 endpoints. Three Celery queues keep heavy tasks isolated. PostgreSQL stores everything including the knowledge graph. Redis handles caching and job orchestration. AI through SiliconFlow at under one cent per thousand tokens. FunASR and PaddleOCR handle Chinese speech and images.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upload audio or images. FunASR and PaddleOCR extract text. An LLM identifies concepts and their relationships such as prerequisites and containment. Everything is stored in a per user knowledge graph in PostgreSQL. The D3.js frontend colors nodes by mastery level. Red nodes become the study plan priority.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R1 acts as manager generating the study plan with units and objectives. V3 acts as critic evaluating on five dimensions including clarity, accuracy, pedagogical effectiveness, engagement, and difficulty. Threshold is 0.8. Below that the critic sends feedback and R1 regenerates up to three times. Plans that pass go to the student. Four subagents produce the actual content.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sets MentorMind apart. Seminar has three AI personas debate and the student evaluates. Simulation presents real scenarios. Oral Defense fires questions from a panel of experts. Memory Challenge is a timed sprint. Error Audit finds flaws in a wrong answer. All backed by a forgetting curve scheduler with proactive review notifications.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a full video generation pipeline with Manim animations. It worked but CJK font rendering was inconsistent. User research showed students wanted personalization more than polished videos. We pivoted in week 4, hid the video UI, kept the pipeline intact, and redirected to study plans. We also built a circuit breaker with multi provider fallback for API resilience.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shipped API v2 with about 90 endpoints across lessons, study plans, knowledge graphs, Gaokao prep, board lessons, billing, and analytics. Four languages. Operating cost around 160 dollars per month. Adaptive difficulty adjusts from three quiz scores. 90 day telemetry. And a Gaokao prep system directly relevant to our Chinese market.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priorities: restore video generation once CJK fonts are solved, build a React Native mobile app for offline access, and integrate with school LMS platforms. Thank you.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463040"/>
            <a:ext cx="9144000" cy="1371600"/>
          </a:xfrm>
          <a:prstGeom prst="rect">
            <a:avLst/>
          </a:prstGeom>
          <a:noFill/>
        </p:spPr>
        <p:txBody>
          <a:bodyPr wrap="square">
            <a:spAutoFit/>
          </a:bodyPr>
          <a:lstStyle/>
          <a:p>
            <a:pPr algn="l">
              <a:defRPr sz="5200" b="1">
                <a:solidFill>
                  <a:srgbClr val="0F172A"/>
                </a:solidFill>
              </a:defRPr>
            </a:pPr>
            <a:r>
              <a:t>MentorMind</a:t>
            </a:r>
          </a:p>
        </p:txBody>
      </p:sp>
      <p:sp>
        <p:nvSpPr>
          <p:cNvPr id="4" name="TextBox 3"/>
          <p:cNvSpPr txBox="1"/>
          <p:nvPr/>
        </p:nvSpPr>
        <p:spPr>
          <a:xfrm>
            <a:off x="1371600" y="2926080"/>
            <a:ext cx="9144000" cy="461665"/>
          </a:xfrm>
          <a:prstGeom prst="rect">
            <a:avLst/>
          </a:prstGeom>
          <a:noFill/>
        </p:spPr>
        <p:txBody>
          <a:bodyPr wrap="square">
            <a:spAutoFit/>
          </a:bodyPr>
          <a:lstStyle/>
          <a:p>
            <a:pPr algn="l">
              <a:defRPr sz="2400" b="0">
                <a:solidFill>
                  <a:srgbClr val="2563EB"/>
                </a:solidFill>
              </a:defRPr>
            </a:pPr>
            <a:r>
              <a:rPr dirty="0"/>
              <a:t>AI Powered Personalized Study Plan</a:t>
            </a:r>
            <a:r>
              <a:rPr lang="en-US" dirty="0"/>
              <a:t> Generator</a:t>
            </a:r>
            <a:endParaRPr dirty="0"/>
          </a:p>
        </p:txBody>
      </p:sp>
      <p:sp>
        <p:nvSpPr>
          <p:cNvPr id="5" name="Rectangle 4"/>
          <p:cNvSpPr/>
          <p:nvPr/>
        </p:nvSpPr>
        <p:spPr>
          <a:xfrm>
            <a:off x="1371600" y="3474720"/>
            <a:ext cx="18288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931920"/>
            <a:ext cx="9144000" cy="548640"/>
          </a:xfrm>
          <a:prstGeom prst="rect">
            <a:avLst/>
          </a:prstGeom>
          <a:noFill/>
        </p:spPr>
        <p:txBody>
          <a:bodyPr wrap="square">
            <a:spAutoFit/>
          </a:bodyPr>
          <a:lstStyle/>
          <a:p>
            <a:pPr algn="l">
              <a:defRPr sz="1600" b="0">
                <a:solidFill>
                  <a:srgbClr val="94A3B8"/>
                </a:solidFill>
              </a:defRPr>
            </a:pPr>
            <a:r>
              <a:t>Senior Project Presentation    Leo Qin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548640"/>
            <a:ext cx="10332720" cy="1005840"/>
          </a:xfrm>
          <a:prstGeom prst="rect">
            <a:avLst/>
          </a:prstGeom>
          <a:noFill/>
        </p:spPr>
        <p:txBody>
          <a:bodyPr wrap="square">
            <a:spAutoFit/>
          </a:bodyPr>
          <a:lstStyle/>
          <a:p>
            <a:pPr algn="l">
              <a:defRPr sz="3400" b="1">
                <a:solidFill>
                  <a:srgbClr val="0F172A"/>
                </a:solidFill>
              </a:defRPr>
            </a:pPr>
            <a:r>
              <a:t>The Problem</a:t>
            </a:r>
          </a:p>
        </p:txBody>
      </p:sp>
      <p:sp>
        <p:nvSpPr>
          <p:cNvPr id="4" name="Rectangle 3"/>
          <p:cNvSpPr/>
          <p:nvPr/>
        </p:nvSpPr>
        <p:spPr>
          <a:xfrm>
            <a:off x="914400" y="1280160"/>
            <a:ext cx="164592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2011680"/>
            <a:ext cx="32004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194560"/>
            <a:ext cx="2834640" cy="754380"/>
          </a:xfrm>
          <a:prstGeom prst="rect">
            <a:avLst/>
          </a:prstGeom>
          <a:noFill/>
        </p:spPr>
        <p:txBody>
          <a:bodyPr wrap="square">
            <a:spAutoFit/>
          </a:bodyPr>
          <a:lstStyle/>
          <a:p>
            <a:pPr algn="ctr">
              <a:defRPr sz="2600" b="1">
                <a:solidFill>
                  <a:srgbClr val="2563EB"/>
                </a:solidFill>
              </a:defRPr>
            </a:pPr>
            <a:r>
              <a:t>46M+</a:t>
            </a:r>
          </a:p>
        </p:txBody>
      </p:sp>
      <p:sp>
        <p:nvSpPr>
          <p:cNvPr id="7" name="TextBox 6"/>
          <p:cNvSpPr txBox="1"/>
          <p:nvPr/>
        </p:nvSpPr>
        <p:spPr>
          <a:xfrm>
            <a:off x="1097280" y="2766060"/>
            <a:ext cx="2834640" cy="548640"/>
          </a:xfrm>
          <a:prstGeom prst="rect">
            <a:avLst/>
          </a:prstGeom>
          <a:noFill/>
        </p:spPr>
        <p:txBody>
          <a:bodyPr wrap="square">
            <a:spAutoFit/>
          </a:bodyPr>
          <a:lstStyle/>
          <a:p>
            <a:pPr algn="ctr">
              <a:defRPr sz="1100" b="0">
                <a:solidFill>
                  <a:srgbClr val="334055"/>
                </a:solidFill>
              </a:defRPr>
            </a:pPr>
            <a:r>
              <a:t>Students in exam track education</a:t>
            </a:r>
          </a:p>
        </p:txBody>
      </p:sp>
      <p:sp>
        <p:nvSpPr>
          <p:cNvPr id="8" name="Rounded Rectangle 7"/>
          <p:cNvSpPr/>
          <p:nvPr/>
        </p:nvSpPr>
        <p:spPr>
          <a:xfrm>
            <a:off x="4480560" y="2011680"/>
            <a:ext cx="32004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2194560"/>
            <a:ext cx="2834640" cy="754380"/>
          </a:xfrm>
          <a:prstGeom prst="rect">
            <a:avLst/>
          </a:prstGeom>
          <a:noFill/>
        </p:spPr>
        <p:txBody>
          <a:bodyPr wrap="square">
            <a:spAutoFit/>
          </a:bodyPr>
          <a:lstStyle/>
          <a:p>
            <a:pPr algn="ctr">
              <a:defRPr sz="2600" b="1">
                <a:solidFill>
                  <a:srgbClr val="EA580C"/>
                </a:solidFill>
              </a:defRPr>
            </a:pPr>
            <a:r>
              <a:t>$2K to 15K</a:t>
            </a:r>
          </a:p>
        </p:txBody>
      </p:sp>
      <p:sp>
        <p:nvSpPr>
          <p:cNvPr id="10" name="TextBox 9"/>
          <p:cNvSpPr txBox="1"/>
          <p:nvPr/>
        </p:nvSpPr>
        <p:spPr>
          <a:xfrm>
            <a:off x="4663440" y="2766060"/>
            <a:ext cx="2834640" cy="548640"/>
          </a:xfrm>
          <a:prstGeom prst="rect">
            <a:avLst/>
          </a:prstGeom>
          <a:noFill/>
        </p:spPr>
        <p:txBody>
          <a:bodyPr wrap="square">
            <a:spAutoFit/>
          </a:bodyPr>
          <a:lstStyle/>
          <a:p>
            <a:pPr algn="ctr">
              <a:defRPr sz="1100" b="0">
                <a:solidFill>
                  <a:srgbClr val="334055"/>
                </a:solidFill>
              </a:defRPr>
            </a:pPr>
            <a:r>
              <a:t>Annual tutoring cost per family</a:t>
            </a:r>
          </a:p>
        </p:txBody>
      </p:sp>
      <p:sp>
        <p:nvSpPr>
          <p:cNvPr id="11" name="Rounded Rectangle 10"/>
          <p:cNvSpPr/>
          <p:nvPr/>
        </p:nvSpPr>
        <p:spPr>
          <a:xfrm>
            <a:off x="8046720" y="2011680"/>
            <a:ext cx="32004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194560"/>
            <a:ext cx="2834640" cy="754380"/>
          </a:xfrm>
          <a:prstGeom prst="rect">
            <a:avLst/>
          </a:prstGeom>
          <a:noFill/>
        </p:spPr>
        <p:txBody>
          <a:bodyPr wrap="square">
            <a:spAutoFit/>
          </a:bodyPr>
          <a:lstStyle/>
          <a:p>
            <a:pPr algn="ctr">
              <a:defRPr sz="2600" b="1">
                <a:solidFill>
                  <a:srgbClr val="7C3AED"/>
                </a:solidFill>
              </a:defRPr>
            </a:pPr>
            <a:r>
              <a:t>50 to 1</a:t>
            </a:r>
          </a:p>
        </p:txBody>
      </p:sp>
      <p:sp>
        <p:nvSpPr>
          <p:cNvPr id="13" name="TextBox 12"/>
          <p:cNvSpPr txBox="1"/>
          <p:nvPr/>
        </p:nvSpPr>
        <p:spPr>
          <a:xfrm>
            <a:off x="8229600" y="2766060"/>
            <a:ext cx="2834640" cy="548640"/>
          </a:xfrm>
          <a:prstGeom prst="rect">
            <a:avLst/>
          </a:prstGeom>
          <a:noFill/>
        </p:spPr>
        <p:txBody>
          <a:bodyPr wrap="square">
            <a:spAutoFit/>
          </a:bodyPr>
          <a:lstStyle/>
          <a:p>
            <a:pPr algn="ctr">
              <a:defRPr sz="1100" b="0">
                <a:solidFill>
                  <a:srgbClr val="334055"/>
                </a:solidFill>
              </a:defRPr>
            </a:pPr>
            <a:r>
              <a:t>Student to teacher ratio</a:t>
            </a:r>
          </a:p>
        </p:txBody>
      </p:sp>
      <p:sp>
        <p:nvSpPr>
          <p:cNvPr id="14" name="TextBox 13"/>
          <p:cNvSpPr txBox="1"/>
          <p:nvPr/>
        </p:nvSpPr>
        <p:spPr>
          <a:xfrm>
            <a:off x="914400" y="3931920"/>
            <a:ext cx="10332720" cy="2286000"/>
          </a:xfrm>
          <a:prstGeom prst="rect">
            <a:avLst/>
          </a:prstGeom>
          <a:noFill/>
        </p:spPr>
        <p:txBody>
          <a:bodyPr wrap="square">
            <a:spAutoFit/>
          </a:bodyPr>
          <a:lstStyle/>
          <a:p>
            <a:pPr>
              <a:spcBef>
                <a:spcPts val="0"/>
              </a:spcBef>
              <a:defRPr sz="1600">
                <a:solidFill>
                  <a:srgbClr val="334055"/>
                </a:solidFill>
              </a:defRPr>
            </a:pPr>
            <a:r>
              <a:t>Private tutoring is expensive but remains one size fits all</a:t>
            </a:r>
          </a:p>
          <a:p>
            <a:pPr>
              <a:spcBef>
                <a:spcPts val="1600"/>
              </a:spcBef>
              <a:defRPr sz="1600">
                <a:solidFill>
                  <a:srgbClr val="334055"/>
                </a:solidFill>
              </a:defRPr>
            </a:pPr>
            <a:r>
              <a:t>Teachers cannot diagnose individual gaps for 50 students</a:t>
            </a:r>
          </a:p>
          <a:p>
            <a:pPr>
              <a:spcBef>
                <a:spcPts val="1600"/>
              </a:spcBef>
              <a:defRPr sz="1600">
                <a:solidFill>
                  <a:srgbClr val="334055"/>
                </a:solidFill>
              </a:defRPr>
            </a:pPr>
            <a:r>
              <a:t>Students waste hours reviewing what they already know</a:t>
            </a:r>
          </a:p>
        </p:txBody>
      </p:sp>
      <p:sp>
        <p:nvSpPr>
          <p:cNvPr id="15" name="TextBox 14"/>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457200"/>
            <a:ext cx="10332720" cy="822960"/>
          </a:xfrm>
          <a:prstGeom prst="rect">
            <a:avLst/>
          </a:prstGeom>
          <a:noFill/>
        </p:spPr>
        <p:txBody>
          <a:bodyPr wrap="square">
            <a:spAutoFit/>
          </a:bodyPr>
          <a:lstStyle/>
          <a:p>
            <a:pPr algn="l">
              <a:defRPr sz="3400" b="1">
                <a:solidFill>
                  <a:srgbClr val="0F172A"/>
                </a:solidFill>
              </a:defRPr>
            </a:pPr>
            <a:r>
              <a:t>How MentorMind works</a:t>
            </a:r>
          </a:p>
        </p:txBody>
      </p:sp>
      <p:sp>
        <p:nvSpPr>
          <p:cNvPr id="4" name="Rectangle 3"/>
          <p:cNvSpPr/>
          <p:nvPr/>
        </p:nvSpPr>
        <p:spPr>
          <a:xfrm>
            <a:off x="914400" y="1005840"/>
            <a:ext cx="164592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7280" y="1605280"/>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6" name="TextBox 5"/>
          <p:cNvSpPr txBox="1"/>
          <p:nvPr/>
        </p:nvSpPr>
        <p:spPr>
          <a:xfrm>
            <a:off x="1920240" y="1554480"/>
            <a:ext cx="9144000" cy="411480"/>
          </a:xfrm>
          <a:prstGeom prst="rect">
            <a:avLst/>
          </a:prstGeom>
          <a:noFill/>
        </p:spPr>
        <p:txBody>
          <a:bodyPr wrap="square">
            <a:spAutoFit/>
          </a:bodyPr>
          <a:lstStyle/>
          <a:p>
            <a:pPr algn="l">
              <a:defRPr sz="1800" b="1">
                <a:solidFill>
                  <a:srgbClr val="0F172A"/>
                </a:solidFill>
              </a:defRPr>
            </a:pPr>
            <a:r>
              <a:t>Conversational diagnostic</a:t>
            </a:r>
          </a:p>
        </p:txBody>
      </p:sp>
      <p:sp>
        <p:nvSpPr>
          <p:cNvPr id="7" name="TextBox 6"/>
          <p:cNvSpPr txBox="1"/>
          <p:nvPr/>
        </p:nvSpPr>
        <p:spPr>
          <a:xfrm>
            <a:off x="1920240" y="1910080"/>
            <a:ext cx="9144000" cy="320040"/>
          </a:xfrm>
          <a:prstGeom prst="rect">
            <a:avLst/>
          </a:prstGeom>
          <a:noFill/>
        </p:spPr>
        <p:txBody>
          <a:bodyPr wrap="square">
            <a:spAutoFit/>
          </a:bodyPr>
          <a:lstStyle/>
          <a:p>
            <a:pPr algn="l">
              <a:defRPr sz="1300" b="0">
                <a:solidFill>
                  <a:srgbClr val="334055"/>
                </a:solidFill>
              </a:defRPr>
            </a:pPr>
            <a:r>
              <a:t>AI chats with the student to uncover real knowledge gaps</a:t>
            </a:r>
          </a:p>
        </p:txBody>
      </p:sp>
      <p:sp>
        <p:nvSpPr>
          <p:cNvPr id="8" name="Oval 7"/>
          <p:cNvSpPr/>
          <p:nvPr/>
        </p:nvSpPr>
        <p:spPr>
          <a:xfrm>
            <a:off x="1097280" y="2702560"/>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9" name="TextBox 8"/>
          <p:cNvSpPr txBox="1"/>
          <p:nvPr/>
        </p:nvSpPr>
        <p:spPr>
          <a:xfrm>
            <a:off x="1920240" y="2651760"/>
            <a:ext cx="9144000" cy="411480"/>
          </a:xfrm>
          <a:prstGeom prst="rect">
            <a:avLst/>
          </a:prstGeom>
          <a:noFill/>
        </p:spPr>
        <p:txBody>
          <a:bodyPr wrap="square">
            <a:spAutoFit/>
          </a:bodyPr>
          <a:lstStyle/>
          <a:p>
            <a:pPr algn="l">
              <a:defRPr sz="1800" b="1">
                <a:solidFill>
                  <a:srgbClr val="0F172A"/>
                </a:solidFill>
              </a:defRPr>
            </a:pPr>
            <a:r>
              <a:t>Knowledge graph</a:t>
            </a:r>
          </a:p>
        </p:txBody>
      </p:sp>
      <p:sp>
        <p:nvSpPr>
          <p:cNvPr id="10" name="TextBox 9"/>
          <p:cNvSpPr txBox="1"/>
          <p:nvPr/>
        </p:nvSpPr>
        <p:spPr>
          <a:xfrm>
            <a:off x="1920240" y="3007360"/>
            <a:ext cx="9144000" cy="320040"/>
          </a:xfrm>
          <a:prstGeom prst="rect">
            <a:avLst/>
          </a:prstGeom>
          <a:noFill/>
        </p:spPr>
        <p:txBody>
          <a:bodyPr wrap="square">
            <a:spAutoFit/>
          </a:bodyPr>
          <a:lstStyle/>
          <a:p>
            <a:pPr algn="l">
              <a:defRPr sz="1300" b="0">
                <a:solidFill>
                  <a:srgbClr val="334055"/>
                </a:solidFill>
              </a:defRPr>
            </a:pPr>
            <a:r>
              <a:t>Builds a per student map of concepts and their dependencies</a:t>
            </a:r>
          </a:p>
        </p:txBody>
      </p:sp>
      <p:sp>
        <p:nvSpPr>
          <p:cNvPr id="11" name="Oval 10"/>
          <p:cNvSpPr/>
          <p:nvPr/>
        </p:nvSpPr>
        <p:spPr>
          <a:xfrm>
            <a:off x="1097280" y="3799839"/>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12" name="TextBox 11"/>
          <p:cNvSpPr txBox="1"/>
          <p:nvPr/>
        </p:nvSpPr>
        <p:spPr>
          <a:xfrm>
            <a:off x="1920240" y="3749039"/>
            <a:ext cx="9144000" cy="411480"/>
          </a:xfrm>
          <a:prstGeom prst="rect">
            <a:avLst/>
          </a:prstGeom>
          <a:noFill/>
        </p:spPr>
        <p:txBody>
          <a:bodyPr wrap="square">
            <a:spAutoFit/>
          </a:bodyPr>
          <a:lstStyle/>
          <a:p>
            <a:pPr algn="l">
              <a:defRPr sz="1800" b="1">
                <a:solidFill>
                  <a:srgbClr val="0F172A"/>
                </a:solidFill>
              </a:defRPr>
            </a:pPr>
            <a:r>
              <a:t>Manager Critic AI</a:t>
            </a:r>
          </a:p>
        </p:txBody>
      </p:sp>
      <p:sp>
        <p:nvSpPr>
          <p:cNvPr id="13" name="TextBox 12"/>
          <p:cNvSpPr txBox="1"/>
          <p:nvPr/>
        </p:nvSpPr>
        <p:spPr>
          <a:xfrm>
            <a:off x="1920240" y="4104639"/>
            <a:ext cx="9144000" cy="320040"/>
          </a:xfrm>
          <a:prstGeom prst="rect">
            <a:avLst/>
          </a:prstGeom>
          <a:noFill/>
        </p:spPr>
        <p:txBody>
          <a:bodyPr wrap="square">
            <a:spAutoFit/>
          </a:bodyPr>
          <a:lstStyle/>
          <a:p>
            <a:pPr algn="l">
              <a:defRPr sz="1300" b="0">
                <a:solidFill>
                  <a:srgbClr val="334055"/>
                </a:solidFill>
              </a:defRPr>
            </a:pPr>
            <a:r>
              <a:t>Generates study plans then evaluates quality before delivery</a:t>
            </a:r>
          </a:p>
        </p:txBody>
      </p:sp>
      <p:sp>
        <p:nvSpPr>
          <p:cNvPr id="14" name="Oval 13"/>
          <p:cNvSpPr/>
          <p:nvPr/>
        </p:nvSpPr>
        <p:spPr>
          <a:xfrm>
            <a:off x="1097280" y="4897120"/>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sp>
        <p:nvSpPr>
          <p:cNvPr id="15" name="TextBox 14"/>
          <p:cNvSpPr txBox="1"/>
          <p:nvPr/>
        </p:nvSpPr>
        <p:spPr>
          <a:xfrm>
            <a:off x="1920240" y="4846320"/>
            <a:ext cx="9144000" cy="411480"/>
          </a:xfrm>
          <a:prstGeom prst="rect">
            <a:avLst/>
          </a:prstGeom>
          <a:noFill/>
        </p:spPr>
        <p:txBody>
          <a:bodyPr wrap="square">
            <a:spAutoFit/>
          </a:bodyPr>
          <a:lstStyle/>
          <a:p>
            <a:pPr algn="l">
              <a:defRPr sz="1800" b="1">
                <a:solidFill>
                  <a:srgbClr val="0F172A"/>
                </a:solidFill>
              </a:defRPr>
            </a:pPr>
            <a:r>
              <a:t>Active learning modes</a:t>
            </a:r>
          </a:p>
        </p:txBody>
      </p:sp>
      <p:sp>
        <p:nvSpPr>
          <p:cNvPr id="16" name="TextBox 15"/>
          <p:cNvSpPr txBox="1"/>
          <p:nvPr/>
        </p:nvSpPr>
        <p:spPr>
          <a:xfrm>
            <a:off x="1920240" y="5201920"/>
            <a:ext cx="9144000" cy="320040"/>
          </a:xfrm>
          <a:prstGeom prst="rect">
            <a:avLst/>
          </a:prstGeom>
          <a:noFill/>
        </p:spPr>
        <p:txBody>
          <a:bodyPr wrap="square">
            <a:spAutoFit/>
          </a:bodyPr>
          <a:lstStyle/>
          <a:p>
            <a:pPr algn="l">
              <a:defRPr sz="1300" b="0">
                <a:solidFill>
                  <a:srgbClr val="334055"/>
                </a:solidFill>
              </a:defRPr>
            </a:pPr>
            <a:r>
              <a:t>Seminar debates, simulations, oral defense, memory challenges</a:t>
            </a:r>
          </a:p>
        </p:txBody>
      </p:sp>
      <p:sp>
        <p:nvSpPr>
          <p:cNvPr id="17" name="TextBox 16"/>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65760"/>
            <a:ext cx="10332720" cy="731520"/>
          </a:xfrm>
          <a:prstGeom prst="rect">
            <a:avLst/>
          </a:prstGeom>
          <a:noFill/>
        </p:spPr>
        <p:txBody>
          <a:bodyPr wrap="square">
            <a:spAutoFit/>
          </a:bodyPr>
          <a:lstStyle/>
          <a:p>
            <a:pPr algn="l">
              <a:defRPr sz="3200" b="1">
                <a:solidFill>
                  <a:srgbClr val="0F172A"/>
                </a:solidFill>
              </a:defRPr>
            </a:pPr>
            <a:r>
              <a:t>System Architecture</a:t>
            </a:r>
          </a:p>
        </p:txBody>
      </p:sp>
      <p:sp>
        <p:nvSpPr>
          <p:cNvPr id="4" name="Rectangle 3"/>
          <p:cNvSpPr/>
          <p:nvPr/>
        </p:nvSpPr>
        <p:spPr>
          <a:xfrm>
            <a:off x="914400" y="855234"/>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108500"/>
            <a:ext cx="5029200" cy="4754880"/>
          </a:xfrm>
          <a:prstGeom prst="rect">
            <a:avLst/>
          </a:prstGeom>
          <a:noFill/>
        </p:spPr>
        <p:txBody>
          <a:bodyPr wrap="square">
            <a:spAutoFit/>
          </a:bodyPr>
          <a:lstStyle/>
          <a:p>
            <a:pPr>
              <a:spcBef>
                <a:spcPts val="0"/>
              </a:spcBef>
              <a:defRPr sz="1500">
                <a:solidFill>
                  <a:srgbClr val="334055"/>
                </a:solidFill>
              </a:defRPr>
            </a:pPr>
            <a:r>
              <a:rPr dirty="0" err="1"/>
              <a:t>Next.js</a:t>
            </a:r>
            <a:r>
              <a:rPr dirty="0"/>
              <a:t> 14 frontend with Clerk authentication</a:t>
            </a:r>
          </a:p>
          <a:p>
            <a:pPr>
              <a:spcBef>
                <a:spcPts val="1600"/>
              </a:spcBef>
              <a:defRPr sz="1500">
                <a:solidFill>
                  <a:srgbClr val="334055"/>
                </a:solidFill>
              </a:defRPr>
            </a:pPr>
            <a:r>
              <a:rPr dirty="0" err="1"/>
              <a:t>FastAPI</a:t>
            </a:r>
            <a:r>
              <a:rPr dirty="0"/>
              <a:t> v2 backend serving ~90 endpoints</a:t>
            </a:r>
          </a:p>
          <a:p>
            <a:pPr>
              <a:spcBef>
                <a:spcPts val="1600"/>
              </a:spcBef>
              <a:defRPr sz="1500">
                <a:solidFill>
                  <a:srgbClr val="334055"/>
                </a:solidFill>
              </a:defRPr>
            </a:pPr>
            <a:r>
              <a:rPr dirty="0"/>
              <a:t>Three isolated Celery worker queues</a:t>
            </a:r>
          </a:p>
          <a:p>
            <a:pPr>
              <a:spcBef>
                <a:spcPts val="1600"/>
              </a:spcBef>
              <a:defRPr sz="1500">
                <a:solidFill>
                  <a:srgbClr val="334055"/>
                </a:solidFill>
              </a:defRPr>
            </a:pPr>
            <a:r>
              <a:rPr dirty="0"/>
              <a:t>PostgreSQL for all data, Redis for caching</a:t>
            </a:r>
          </a:p>
          <a:p>
            <a:pPr>
              <a:spcBef>
                <a:spcPts val="1600"/>
              </a:spcBef>
              <a:defRPr sz="1500">
                <a:solidFill>
                  <a:srgbClr val="334055"/>
                </a:solidFill>
              </a:defRPr>
            </a:pPr>
            <a:r>
              <a:rPr dirty="0" err="1"/>
              <a:t>SiliconFlow</a:t>
            </a:r>
            <a:r>
              <a:rPr dirty="0"/>
              <a:t> API with DeepSeek R1 and V3</a:t>
            </a:r>
          </a:p>
          <a:p>
            <a:pPr>
              <a:spcBef>
                <a:spcPts val="1600"/>
              </a:spcBef>
              <a:defRPr sz="1500">
                <a:solidFill>
                  <a:srgbClr val="334055"/>
                </a:solidFill>
              </a:defRPr>
            </a:pPr>
            <a:r>
              <a:rPr dirty="0" err="1"/>
              <a:t>FunASR</a:t>
            </a:r>
            <a:r>
              <a:rPr dirty="0"/>
              <a:t> for speech, </a:t>
            </a:r>
            <a:r>
              <a:rPr dirty="0" err="1"/>
              <a:t>PaddleOCR</a:t>
            </a:r>
            <a:r>
              <a:rPr dirty="0"/>
              <a:t> for image text</a:t>
            </a:r>
          </a:p>
        </p:txBody>
      </p:sp>
      <p:pic>
        <p:nvPicPr>
          <p:cNvPr id="6" name="Picture 5" descr="architecture.png"/>
          <p:cNvPicPr>
            <a:picLocks noChangeAspect="1"/>
          </p:cNvPicPr>
          <p:nvPr/>
        </p:nvPicPr>
        <p:blipFill>
          <a:blip r:embed="rId3"/>
          <a:stretch>
            <a:fillRect/>
          </a:stretch>
        </p:blipFill>
        <p:spPr>
          <a:xfrm>
            <a:off x="5943600" y="1097280"/>
            <a:ext cx="5577840" cy="4846320"/>
          </a:xfrm>
          <a:prstGeom prst="rect">
            <a:avLst/>
          </a:prstGeom>
        </p:spPr>
      </p:pic>
      <p:sp>
        <p:nvSpPr>
          <p:cNvPr id="7" name="TextBox 6"/>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65760"/>
            <a:ext cx="10332720" cy="731520"/>
          </a:xfrm>
          <a:prstGeom prst="rect">
            <a:avLst/>
          </a:prstGeom>
          <a:noFill/>
        </p:spPr>
        <p:txBody>
          <a:bodyPr wrap="square">
            <a:spAutoFit/>
          </a:bodyPr>
          <a:lstStyle/>
          <a:p>
            <a:pPr algn="l">
              <a:defRPr sz="3200" b="1">
                <a:solidFill>
                  <a:srgbClr val="0F172A"/>
                </a:solidFill>
              </a:defRPr>
            </a:pPr>
            <a:r>
              <a:t>Personal Knowledge Graph</a:t>
            </a:r>
          </a:p>
        </p:txBody>
      </p:sp>
      <p:sp>
        <p:nvSpPr>
          <p:cNvPr id="4" name="Rectangle 3"/>
          <p:cNvSpPr/>
          <p:nvPr/>
        </p:nvSpPr>
        <p:spPr>
          <a:xfrm>
            <a:off x="914400" y="887508"/>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97744"/>
            <a:ext cx="5029200" cy="4754880"/>
          </a:xfrm>
          <a:prstGeom prst="rect">
            <a:avLst/>
          </a:prstGeom>
          <a:noFill/>
        </p:spPr>
        <p:txBody>
          <a:bodyPr wrap="square">
            <a:spAutoFit/>
          </a:bodyPr>
          <a:lstStyle/>
          <a:p>
            <a:pPr>
              <a:spcBef>
                <a:spcPts val="0"/>
              </a:spcBef>
              <a:defRPr sz="1500">
                <a:solidFill>
                  <a:srgbClr val="334055"/>
                </a:solidFill>
              </a:defRPr>
            </a:pPr>
            <a:r>
              <a:rPr dirty="0"/>
              <a:t>Audio uploads processed by </a:t>
            </a:r>
            <a:r>
              <a:rPr dirty="0" err="1"/>
              <a:t>FunASR</a:t>
            </a:r>
            <a:endParaRPr dirty="0"/>
          </a:p>
          <a:p>
            <a:pPr>
              <a:spcBef>
                <a:spcPts val="1600"/>
              </a:spcBef>
              <a:defRPr sz="1500">
                <a:solidFill>
                  <a:srgbClr val="334055"/>
                </a:solidFill>
              </a:defRPr>
            </a:pPr>
            <a:r>
              <a:rPr dirty="0"/>
              <a:t>Image uploads processed by </a:t>
            </a:r>
            <a:r>
              <a:rPr dirty="0" err="1"/>
              <a:t>PaddleOCR</a:t>
            </a:r>
            <a:endParaRPr dirty="0"/>
          </a:p>
          <a:p>
            <a:pPr>
              <a:spcBef>
                <a:spcPts val="1600"/>
              </a:spcBef>
              <a:defRPr sz="1500">
                <a:solidFill>
                  <a:srgbClr val="334055"/>
                </a:solidFill>
              </a:defRPr>
            </a:pPr>
            <a:r>
              <a:rPr dirty="0"/>
              <a:t>LLM extracts concepts and relationships</a:t>
            </a:r>
          </a:p>
          <a:p>
            <a:pPr>
              <a:spcBef>
                <a:spcPts val="1600"/>
              </a:spcBef>
              <a:defRPr sz="1500">
                <a:solidFill>
                  <a:srgbClr val="334055"/>
                </a:solidFill>
              </a:defRPr>
            </a:pPr>
            <a:r>
              <a:rPr dirty="0"/>
              <a:t>Graph stored per user in PostgreSQL</a:t>
            </a:r>
          </a:p>
          <a:p>
            <a:pPr>
              <a:spcBef>
                <a:spcPts val="1600"/>
              </a:spcBef>
              <a:defRPr sz="1500">
                <a:solidFill>
                  <a:srgbClr val="334055"/>
                </a:solidFill>
              </a:defRPr>
            </a:pPr>
            <a:r>
              <a:rPr dirty="0"/>
              <a:t>D3.js interactive force directed layout</a:t>
            </a:r>
          </a:p>
          <a:p>
            <a:pPr>
              <a:spcBef>
                <a:spcPts val="1600"/>
              </a:spcBef>
              <a:defRPr sz="1500">
                <a:solidFill>
                  <a:srgbClr val="334055"/>
                </a:solidFill>
              </a:defRPr>
            </a:pPr>
            <a:r>
              <a:rPr dirty="0"/>
              <a:t>Mastery colors: green, yellow, red</a:t>
            </a:r>
          </a:p>
        </p:txBody>
      </p:sp>
      <p:pic>
        <p:nvPicPr>
          <p:cNvPr id="6" name="Picture 5" descr="knowledge_graph.png"/>
          <p:cNvPicPr>
            <a:picLocks noChangeAspect="1"/>
          </p:cNvPicPr>
          <p:nvPr/>
        </p:nvPicPr>
        <p:blipFill>
          <a:blip r:embed="rId3"/>
          <a:stretch>
            <a:fillRect/>
          </a:stretch>
        </p:blipFill>
        <p:spPr>
          <a:xfrm>
            <a:off x="6096000" y="1097280"/>
            <a:ext cx="5425440" cy="4846320"/>
          </a:xfrm>
          <a:prstGeom prst="rect">
            <a:avLst/>
          </a:prstGeom>
        </p:spPr>
      </p:pic>
      <p:sp>
        <p:nvSpPr>
          <p:cNvPr id="7" name="TextBox 6"/>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65760"/>
            <a:ext cx="10332720" cy="731520"/>
          </a:xfrm>
          <a:prstGeom prst="rect">
            <a:avLst/>
          </a:prstGeom>
          <a:noFill/>
        </p:spPr>
        <p:txBody>
          <a:bodyPr wrap="square">
            <a:spAutoFit/>
          </a:bodyPr>
          <a:lstStyle/>
          <a:p>
            <a:pPr algn="l">
              <a:defRPr sz="3200" b="1">
                <a:solidFill>
                  <a:srgbClr val="0F172A"/>
                </a:solidFill>
              </a:defRPr>
            </a:pPr>
            <a:r>
              <a:t>Manager Critic AI Planning Loop</a:t>
            </a:r>
          </a:p>
        </p:txBody>
      </p:sp>
      <p:sp>
        <p:nvSpPr>
          <p:cNvPr id="4" name="Rectangle 3"/>
          <p:cNvSpPr/>
          <p:nvPr/>
        </p:nvSpPr>
        <p:spPr>
          <a:xfrm>
            <a:off x="914400" y="919780"/>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85771"/>
            <a:ext cx="5029200" cy="4754880"/>
          </a:xfrm>
          <a:prstGeom prst="rect">
            <a:avLst/>
          </a:prstGeom>
          <a:noFill/>
        </p:spPr>
        <p:txBody>
          <a:bodyPr wrap="square">
            <a:spAutoFit/>
          </a:bodyPr>
          <a:lstStyle/>
          <a:p>
            <a:pPr>
              <a:spcBef>
                <a:spcPts val="0"/>
              </a:spcBef>
              <a:defRPr sz="1500">
                <a:solidFill>
                  <a:srgbClr val="334055"/>
                </a:solidFill>
              </a:defRPr>
            </a:pPr>
            <a:r>
              <a:rPr dirty="0"/>
              <a:t>DeepSeek R1 Manager generates the draft plan</a:t>
            </a:r>
          </a:p>
          <a:p>
            <a:pPr>
              <a:spcBef>
                <a:spcPts val="1600"/>
              </a:spcBef>
              <a:defRPr sz="1500">
                <a:solidFill>
                  <a:srgbClr val="334055"/>
                </a:solidFill>
              </a:defRPr>
            </a:pPr>
            <a:r>
              <a:rPr dirty="0"/>
              <a:t>DeepSeek V3 Critic evaluates on 5 dimensions</a:t>
            </a:r>
          </a:p>
          <a:p>
            <a:pPr>
              <a:spcBef>
                <a:spcPts val="1600"/>
              </a:spcBef>
              <a:defRPr sz="1500">
                <a:solidFill>
                  <a:srgbClr val="334055"/>
                </a:solidFill>
              </a:defRPr>
            </a:pPr>
            <a:r>
              <a:rPr dirty="0"/>
              <a:t>Clarity, accuracy, pedagogy, engagement, difficulty</a:t>
            </a:r>
          </a:p>
          <a:p>
            <a:pPr>
              <a:spcBef>
                <a:spcPts val="1600"/>
              </a:spcBef>
              <a:defRPr sz="1500">
                <a:solidFill>
                  <a:srgbClr val="334055"/>
                </a:solidFill>
              </a:defRPr>
            </a:pPr>
            <a:r>
              <a:rPr dirty="0"/>
              <a:t>Scored 0 to 1 with quality threshold at 0.8</a:t>
            </a:r>
          </a:p>
          <a:p>
            <a:pPr>
              <a:spcBef>
                <a:spcPts val="1600"/>
              </a:spcBef>
              <a:defRPr sz="1500">
                <a:solidFill>
                  <a:srgbClr val="334055"/>
                </a:solidFill>
              </a:defRPr>
            </a:pPr>
            <a:r>
              <a:rPr dirty="0"/>
              <a:t>Below threshold triggers regeneration up to 3 times</a:t>
            </a:r>
          </a:p>
          <a:p>
            <a:pPr>
              <a:spcBef>
                <a:spcPts val="1600"/>
              </a:spcBef>
              <a:defRPr sz="1500">
                <a:solidFill>
                  <a:srgbClr val="334055"/>
                </a:solidFill>
              </a:defRPr>
            </a:pPr>
            <a:r>
              <a:rPr dirty="0"/>
              <a:t>Four subagents produce quizzes and flashcards</a:t>
            </a:r>
          </a:p>
        </p:txBody>
      </p:sp>
      <p:pic>
        <p:nvPicPr>
          <p:cNvPr id="6" name="Picture 5" descr="manager_critic.png"/>
          <p:cNvPicPr>
            <a:picLocks noChangeAspect="1"/>
          </p:cNvPicPr>
          <p:nvPr/>
        </p:nvPicPr>
        <p:blipFill>
          <a:blip r:embed="rId3"/>
          <a:stretch>
            <a:fillRect/>
          </a:stretch>
        </p:blipFill>
        <p:spPr>
          <a:xfrm>
            <a:off x="5454127" y="1097280"/>
            <a:ext cx="6067313" cy="4846320"/>
          </a:xfrm>
          <a:prstGeom prst="rect">
            <a:avLst/>
          </a:prstGeom>
        </p:spPr>
      </p:pic>
      <p:sp>
        <p:nvSpPr>
          <p:cNvPr id="7" name="TextBox 6"/>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365760"/>
            <a:ext cx="10332720" cy="731520"/>
          </a:xfrm>
          <a:prstGeom prst="rect">
            <a:avLst/>
          </a:prstGeom>
          <a:noFill/>
        </p:spPr>
        <p:txBody>
          <a:bodyPr wrap="square">
            <a:spAutoFit/>
          </a:bodyPr>
          <a:lstStyle/>
          <a:p>
            <a:pPr algn="l">
              <a:defRPr sz="3200" b="1">
                <a:solidFill>
                  <a:srgbClr val="0F172A"/>
                </a:solidFill>
              </a:defRPr>
            </a:pPr>
            <a:r>
              <a:rPr dirty="0"/>
              <a:t>Learning by doing, not reading</a:t>
            </a:r>
          </a:p>
        </p:txBody>
      </p:sp>
      <p:sp>
        <p:nvSpPr>
          <p:cNvPr id="4" name="Rectangle 3"/>
          <p:cNvSpPr/>
          <p:nvPr/>
        </p:nvSpPr>
        <p:spPr>
          <a:xfrm>
            <a:off x="914400" y="898266"/>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96528"/>
            <a:ext cx="5029200" cy="4754880"/>
          </a:xfrm>
          <a:prstGeom prst="rect">
            <a:avLst/>
          </a:prstGeom>
          <a:noFill/>
        </p:spPr>
        <p:txBody>
          <a:bodyPr wrap="square">
            <a:spAutoFit/>
          </a:bodyPr>
          <a:lstStyle/>
          <a:p>
            <a:pPr>
              <a:spcBef>
                <a:spcPts val="0"/>
              </a:spcBef>
              <a:defRPr sz="1500">
                <a:solidFill>
                  <a:srgbClr val="334055"/>
                </a:solidFill>
              </a:defRPr>
            </a:pPr>
            <a:r>
              <a:rPr dirty="0"/>
              <a:t>Seminar: three AI roles debate, you evaluate</a:t>
            </a:r>
          </a:p>
          <a:p>
            <a:pPr>
              <a:spcBef>
                <a:spcPts val="1600"/>
              </a:spcBef>
              <a:defRPr sz="1500">
                <a:solidFill>
                  <a:srgbClr val="334055"/>
                </a:solidFill>
              </a:defRPr>
            </a:pPr>
            <a:r>
              <a:rPr dirty="0"/>
              <a:t>Simulation: decision scenarios with real concepts</a:t>
            </a:r>
          </a:p>
          <a:p>
            <a:pPr>
              <a:spcBef>
                <a:spcPts val="1600"/>
              </a:spcBef>
              <a:defRPr sz="1500">
                <a:solidFill>
                  <a:srgbClr val="334055"/>
                </a:solidFill>
              </a:defRPr>
            </a:pPr>
            <a:r>
              <a:rPr dirty="0"/>
              <a:t>Oral Defense: expert panel questions your reasoning</a:t>
            </a:r>
          </a:p>
          <a:p>
            <a:pPr>
              <a:spcBef>
                <a:spcPts val="1600"/>
              </a:spcBef>
              <a:defRPr sz="1500">
                <a:solidFill>
                  <a:srgbClr val="334055"/>
                </a:solidFill>
              </a:defRPr>
            </a:pPr>
            <a:r>
              <a:rPr dirty="0"/>
              <a:t>Memory Challenge: timed retrieval sprints</a:t>
            </a:r>
          </a:p>
          <a:p>
            <a:pPr>
              <a:spcBef>
                <a:spcPts val="1600"/>
              </a:spcBef>
              <a:defRPr sz="1500">
                <a:solidFill>
                  <a:srgbClr val="334055"/>
                </a:solidFill>
              </a:defRPr>
            </a:pPr>
            <a:r>
              <a:rPr dirty="0"/>
              <a:t>Error Audit: identify flaws in wrong answers</a:t>
            </a:r>
          </a:p>
          <a:p>
            <a:pPr>
              <a:spcBef>
                <a:spcPts val="1600"/>
              </a:spcBef>
              <a:defRPr sz="1500">
                <a:solidFill>
                  <a:srgbClr val="334055"/>
                </a:solidFill>
              </a:defRPr>
            </a:pPr>
            <a:r>
              <a:rPr dirty="0"/>
              <a:t>Backed by forgetting curve spaced repetition</a:t>
            </a:r>
          </a:p>
        </p:txBody>
      </p:sp>
      <p:pic>
        <p:nvPicPr>
          <p:cNvPr id="6" name="Picture 5" descr="process_flow.png"/>
          <p:cNvPicPr>
            <a:picLocks noChangeAspect="1"/>
          </p:cNvPicPr>
          <p:nvPr/>
        </p:nvPicPr>
        <p:blipFill>
          <a:blip r:embed="rId3"/>
          <a:stretch>
            <a:fillRect/>
          </a:stretch>
        </p:blipFill>
        <p:spPr>
          <a:xfrm>
            <a:off x="5647765" y="1097280"/>
            <a:ext cx="5873675" cy="4846320"/>
          </a:xfrm>
          <a:prstGeom prst="rect">
            <a:avLst/>
          </a:prstGeom>
        </p:spPr>
      </p:pic>
      <p:sp>
        <p:nvSpPr>
          <p:cNvPr id="7" name="TextBox 6"/>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457200"/>
            <a:ext cx="10332720" cy="822960"/>
          </a:xfrm>
          <a:prstGeom prst="rect">
            <a:avLst/>
          </a:prstGeom>
          <a:noFill/>
        </p:spPr>
        <p:txBody>
          <a:bodyPr wrap="square">
            <a:spAutoFit/>
          </a:bodyPr>
          <a:lstStyle/>
          <a:p>
            <a:pPr algn="l">
              <a:defRPr sz="3400" b="1">
                <a:solidFill>
                  <a:srgbClr val="0F172A"/>
                </a:solidFill>
              </a:defRPr>
            </a:pPr>
            <a:r>
              <a:rPr dirty="0"/>
              <a:t>The Pivot</a:t>
            </a:r>
          </a:p>
        </p:txBody>
      </p:sp>
      <p:sp>
        <p:nvSpPr>
          <p:cNvPr id="4" name="Rectangle 3"/>
          <p:cNvSpPr/>
          <p:nvPr/>
        </p:nvSpPr>
        <p:spPr>
          <a:xfrm>
            <a:off x="914400" y="1005840"/>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1368" y="2485019"/>
            <a:ext cx="5029200" cy="4114800"/>
          </a:xfrm>
          <a:prstGeom prst="rect">
            <a:avLst/>
          </a:prstGeom>
          <a:noFill/>
        </p:spPr>
        <p:txBody>
          <a:bodyPr wrap="square">
            <a:spAutoFit/>
          </a:bodyPr>
          <a:lstStyle/>
          <a:p>
            <a:pPr>
              <a:spcBef>
                <a:spcPts val="0"/>
              </a:spcBef>
              <a:defRPr sz="1500">
                <a:solidFill>
                  <a:srgbClr val="334055"/>
                </a:solidFill>
              </a:defRPr>
            </a:pPr>
            <a:r>
              <a:rPr dirty="0"/>
              <a:t>Weeks 1 to 3: built a 5 stage AI video pipeline</a:t>
            </a:r>
          </a:p>
          <a:p>
            <a:pPr>
              <a:spcBef>
                <a:spcPts val="1600"/>
              </a:spcBef>
              <a:defRPr sz="1500">
                <a:solidFill>
                  <a:srgbClr val="334055"/>
                </a:solidFill>
              </a:defRPr>
            </a:pPr>
            <a:r>
              <a:rPr dirty="0"/>
              <a:t>Used Manim for math animations like 3Blue1Brown</a:t>
            </a:r>
          </a:p>
          <a:p>
            <a:pPr>
              <a:spcBef>
                <a:spcPts val="1600"/>
              </a:spcBef>
              <a:defRPr sz="1500">
                <a:solidFill>
                  <a:srgbClr val="334055"/>
                </a:solidFill>
              </a:defRPr>
            </a:pPr>
            <a:r>
              <a:rPr dirty="0"/>
              <a:t>CJK font rendering was inconsistent in production</a:t>
            </a:r>
          </a:p>
          <a:p>
            <a:pPr>
              <a:spcBef>
                <a:spcPts val="1600"/>
              </a:spcBef>
              <a:defRPr sz="1500">
                <a:solidFill>
                  <a:srgbClr val="334055"/>
                </a:solidFill>
              </a:defRPr>
            </a:pPr>
            <a:r>
              <a:rPr dirty="0"/>
              <a:t>User research showed students wanted personalization</a:t>
            </a:r>
          </a:p>
        </p:txBody>
      </p:sp>
      <p:sp>
        <p:nvSpPr>
          <p:cNvPr id="6" name="TextBox 5"/>
          <p:cNvSpPr txBox="1"/>
          <p:nvPr/>
        </p:nvSpPr>
        <p:spPr>
          <a:xfrm>
            <a:off x="6474312" y="2485019"/>
            <a:ext cx="4846320" cy="4114800"/>
          </a:xfrm>
          <a:prstGeom prst="rect">
            <a:avLst/>
          </a:prstGeom>
          <a:noFill/>
        </p:spPr>
        <p:txBody>
          <a:bodyPr wrap="square">
            <a:spAutoFit/>
          </a:bodyPr>
          <a:lstStyle/>
          <a:p>
            <a:pPr>
              <a:spcBef>
                <a:spcPts val="0"/>
              </a:spcBef>
              <a:defRPr sz="1500">
                <a:solidFill>
                  <a:srgbClr val="334055"/>
                </a:solidFill>
              </a:defRPr>
            </a:pPr>
            <a:r>
              <a:rPr dirty="0"/>
              <a:t>Week 4: pivoted to study plan generation</a:t>
            </a:r>
          </a:p>
          <a:p>
            <a:pPr>
              <a:spcBef>
                <a:spcPts val="1600"/>
              </a:spcBef>
              <a:defRPr sz="1500">
                <a:solidFill>
                  <a:srgbClr val="334055"/>
                </a:solidFill>
              </a:defRPr>
            </a:pPr>
            <a:r>
              <a:rPr dirty="0"/>
              <a:t>Hid video UI, kept pipeline code intact</a:t>
            </a:r>
          </a:p>
          <a:p>
            <a:pPr>
              <a:spcBef>
                <a:spcPts val="1600"/>
              </a:spcBef>
              <a:defRPr sz="1500">
                <a:solidFill>
                  <a:srgbClr val="334055"/>
                </a:solidFill>
              </a:defRPr>
            </a:pPr>
            <a:r>
              <a:rPr dirty="0"/>
              <a:t>Built circuit breaker with multi provider fallback</a:t>
            </a:r>
          </a:p>
          <a:p>
            <a:pPr>
              <a:spcBef>
                <a:spcPts val="1600"/>
              </a:spcBef>
              <a:defRPr sz="1500">
                <a:solidFill>
                  <a:srgbClr val="334055"/>
                </a:solidFill>
              </a:defRPr>
            </a:pPr>
            <a:r>
              <a:rPr dirty="0"/>
              <a:t>Pivot unlocked the real user need for personalization</a:t>
            </a:r>
          </a:p>
        </p:txBody>
      </p:sp>
      <p:sp>
        <p:nvSpPr>
          <p:cNvPr id="7" name="Right Arrow 6"/>
          <p:cNvSpPr/>
          <p:nvPr/>
        </p:nvSpPr>
        <p:spPr>
          <a:xfrm>
            <a:off x="5303520" y="2926080"/>
            <a:ext cx="1097280" cy="457200"/>
          </a:xfrm>
          <a:prstGeom prst="rightArrow">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0" y="3383280"/>
            <a:ext cx="1097280" cy="274320"/>
          </a:xfrm>
          <a:prstGeom prst="rect">
            <a:avLst/>
          </a:prstGeom>
          <a:noFill/>
        </p:spPr>
        <p:txBody>
          <a:bodyPr wrap="square">
            <a:spAutoFit/>
          </a:bodyPr>
          <a:lstStyle/>
          <a:p>
            <a:pPr algn="ctr">
              <a:defRPr sz="900" b="1">
                <a:solidFill>
                  <a:srgbClr val="FFFFFF"/>
                </a:solidFill>
              </a:defRPr>
            </a:pPr>
            <a:r>
              <a:t>PIVOT</a:t>
            </a:r>
          </a:p>
        </p:txBody>
      </p:sp>
      <p:sp>
        <p:nvSpPr>
          <p:cNvPr id="9" name="TextBox 8"/>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457200"/>
            <a:ext cx="10332720" cy="615553"/>
          </a:xfrm>
          <a:prstGeom prst="rect">
            <a:avLst/>
          </a:prstGeom>
          <a:noFill/>
        </p:spPr>
        <p:txBody>
          <a:bodyPr wrap="square">
            <a:spAutoFit/>
          </a:bodyPr>
          <a:lstStyle/>
          <a:p>
            <a:pPr algn="l">
              <a:defRPr sz="3400" b="1">
                <a:solidFill>
                  <a:srgbClr val="0F172A"/>
                </a:solidFill>
              </a:defRPr>
            </a:pPr>
            <a:r>
              <a:rPr dirty="0"/>
              <a:t>What </a:t>
            </a:r>
            <a:r>
              <a:rPr lang="en-US" dirty="0"/>
              <a:t>I</a:t>
            </a:r>
            <a:r>
              <a:rPr dirty="0"/>
              <a:t> Shipped</a:t>
            </a:r>
          </a:p>
        </p:txBody>
      </p:sp>
      <p:sp>
        <p:nvSpPr>
          <p:cNvPr id="4" name="Rectangle 3"/>
          <p:cNvSpPr/>
          <p:nvPr/>
        </p:nvSpPr>
        <p:spPr>
          <a:xfrm>
            <a:off x="914400" y="1027356"/>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645920"/>
            <a:ext cx="502920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828800"/>
            <a:ext cx="4663440" cy="653796"/>
          </a:xfrm>
          <a:prstGeom prst="rect">
            <a:avLst/>
          </a:prstGeom>
          <a:noFill/>
        </p:spPr>
        <p:txBody>
          <a:bodyPr wrap="square">
            <a:spAutoFit/>
          </a:bodyPr>
          <a:lstStyle/>
          <a:p>
            <a:pPr algn="ctr">
              <a:defRPr sz="2600" b="1">
                <a:solidFill>
                  <a:srgbClr val="2563EB"/>
                </a:solidFill>
              </a:defRPr>
            </a:pPr>
            <a:r>
              <a:t>~90</a:t>
            </a:r>
          </a:p>
        </p:txBody>
      </p:sp>
      <p:sp>
        <p:nvSpPr>
          <p:cNvPr id="7" name="TextBox 6"/>
          <p:cNvSpPr txBox="1"/>
          <p:nvPr/>
        </p:nvSpPr>
        <p:spPr>
          <a:xfrm>
            <a:off x="1097280" y="2299716"/>
            <a:ext cx="4663440" cy="475488"/>
          </a:xfrm>
          <a:prstGeom prst="rect">
            <a:avLst/>
          </a:prstGeom>
          <a:noFill/>
        </p:spPr>
        <p:txBody>
          <a:bodyPr wrap="square">
            <a:spAutoFit/>
          </a:bodyPr>
          <a:lstStyle/>
          <a:p>
            <a:pPr algn="ctr">
              <a:defRPr sz="1100" b="0">
                <a:solidFill>
                  <a:srgbClr val="334055"/>
                </a:solidFill>
              </a:defRPr>
            </a:pPr>
            <a:r>
              <a:t>API endpoints across the full platform</a:t>
            </a:r>
          </a:p>
        </p:txBody>
      </p:sp>
      <p:sp>
        <p:nvSpPr>
          <p:cNvPr id="8" name="Rounded Rectangle 7"/>
          <p:cNvSpPr/>
          <p:nvPr/>
        </p:nvSpPr>
        <p:spPr>
          <a:xfrm>
            <a:off x="6400800" y="1645920"/>
            <a:ext cx="484632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828800"/>
            <a:ext cx="4480560" cy="492443"/>
          </a:xfrm>
          <a:prstGeom prst="rect">
            <a:avLst/>
          </a:prstGeom>
          <a:noFill/>
        </p:spPr>
        <p:txBody>
          <a:bodyPr wrap="square">
            <a:spAutoFit/>
          </a:bodyPr>
          <a:lstStyle/>
          <a:p>
            <a:pPr algn="ctr">
              <a:defRPr sz="2600" b="1">
                <a:solidFill>
                  <a:srgbClr val="7C3AED"/>
                </a:solidFill>
              </a:defRPr>
            </a:pPr>
            <a:r>
              <a:rPr lang="en-US" altLang="zh-CN" dirty="0"/>
              <a:t>2</a:t>
            </a:r>
            <a:endParaRPr dirty="0"/>
          </a:p>
        </p:txBody>
      </p:sp>
      <p:sp>
        <p:nvSpPr>
          <p:cNvPr id="10" name="TextBox 9"/>
          <p:cNvSpPr txBox="1"/>
          <p:nvPr/>
        </p:nvSpPr>
        <p:spPr>
          <a:xfrm>
            <a:off x="6583680" y="2299716"/>
            <a:ext cx="4480560" cy="261610"/>
          </a:xfrm>
          <a:prstGeom prst="rect">
            <a:avLst/>
          </a:prstGeom>
          <a:noFill/>
        </p:spPr>
        <p:txBody>
          <a:bodyPr wrap="square">
            <a:spAutoFit/>
          </a:bodyPr>
          <a:lstStyle/>
          <a:p>
            <a:pPr algn="ctr">
              <a:defRPr sz="1100" b="0">
                <a:solidFill>
                  <a:srgbClr val="334055"/>
                </a:solidFill>
              </a:defRPr>
            </a:pPr>
            <a:r>
              <a:rPr dirty="0"/>
              <a:t>Languages: Chinese  English</a:t>
            </a:r>
          </a:p>
        </p:txBody>
      </p:sp>
      <p:sp>
        <p:nvSpPr>
          <p:cNvPr id="11" name="Rounded Rectangle 10"/>
          <p:cNvSpPr/>
          <p:nvPr/>
        </p:nvSpPr>
        <p:spPr>
          <a:xfrm>
            <a:off x="914400" y="3200400"/>
            <a:ext cx="502920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383280"/>
            <a:ext cx="4663440" cy="653796"/>
          </a:xfrm>
          <a:prstGeom prst="rect">
            <a:avLst/>
          </a:prstGeom>
          <a:noFill/>
        </p:spPr>
        <p:txBody>
          <a:bodyPr wrap="square">
            <a:spAutoFit/>
          </a:bodyPr>
          <a:lstStyle/>
          <a:p>
            <a:pPr algn="ctr">
              <a:defRPr sz="2600" b="1">
                <a:solidFill>
                  <a:srgbClr val="059669"/>
                </a:solidFill>
              </a:defRPr>
            </a:pPr>
            <a:r>
              <a:t>$160 per month</a:t>
            </a:r>
          </a:p>
        </p:txBody>
      </p:sp>
      <p:sp>
        <p:nvSpPr>
          <p:cNvPr id="13" name="TextBox 12"/>
          <p:cNvSpPr txBox="1"/>
          <p:nvPr/>
        </p:nvSpPr>
        <p:spPr>
          <a:xfrm>
            <a:off x="1097280" y="3854196"/>
            <a:ext cx="4663440" cy="475488"/>
          </a:xfrm>
          <a:prstGeom prst="rect">
            <a:avLst/>
          </a:prstGeom>
          <a:noFill/>
        </p:spPr>
        <p:txBody>
          <a:bodyPr wrap="square">
            <a:spAutoFit/>
          </a:bodyPr>
          <a:lstStyle/>
          <a:p>
            <a:pPr algn="ctr">
              <a:defRPr sz="1100" b="0">
                <a:solidFill>
                  <a:srgbClr val="334055"/>
                </a:solidFill>
              </a:defRPr>
            </a:pPr>
            <a:r>
              <a:t>Operating budget at under one cent per K tokens</a:t>
            </a:r>
          </a:p>
        </p:txBody>
      </p:sp>
      <p:sp>
        <p:nvSpPr>
          <p:cNvPr id="14" name="Rounded Rectangle 13"/>
          <p:cNvSpPr/>
          <p:nvPr/>
        </p:nvSpPr>
        <p:spPr>
          <a:xfrm>
            <a:off x="6400800" y="3200400"/>
            <a:ext cx="484632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3383280"/>
            <a:ext cx="4480560" cy="653796"/>
          </a:xfrm>
          <a:prstGeom prst="rect">
            <a:avLst/>
          </a:prstGeom>
          <a:noFill/>
        </p:spPr>
        <p:txBody>
          <a:bodyPr wrap="square">
            <a:spAutoFit/>
          </a:bodyPr>
          <a:lstStyle/>
          <a:p>
            <a:pPr algn="ctr">
              <a:defRPr sz="2600" b="1">
                <a:solidFill>
                  <a:srgbClr val="EA580C"/>
                </a:solidFill>
              </a:defRPr>
            </a:pPr>
            <a:r>
              <a:t>90 days</a:t>
            </a:r>
          </a:p>
        </p:txBody>
      </p:sp>
      <p:sp>
        <p:nvSpPr>
          <p:cNvPr id="16" name="TextBox 15"/>
          <p:cNvSpPr txBox="1"/>
          <p:nvPr/>
        </p:nvSpPr>
        <p:spPr>
          <a:xfrm>
            <a:off x="6583680" y="3854196"/>
            <a:ext cx="4480560" cy="475488"/>
          </a:xfrm>
          <a:prstGeom prst="rect">
            <a:avLst/>
          </a:prstGeom>
          <a:noFill/>
        </p:spPr>
        <p:txBody>
          <a:bodyPr wrap="square">
            <a:spAutoFit/>
          </a:bodyPr>
          <a:lstStyle/>
          <a:p>
            <a:pPr algn="ctr">
              <a:defRPr sz="1100" b="0">
                <a:solidFill>
                  <a:srgbClr val="334055"/>
                </a:solidFill>
              </a:defRPr>
            </a:pPr>
            <a:r>
              <a:t>Telemetry retention with daily proficiency rollups</a:t>
            </a:r>
          </a:p>
        </p:txBody>
      </p:sp>
      <p:sp>
        <p:nvSpPr>
          <p:cNvPr id="17" name="TextBox 16"/>
          <p:cNvSpPr txBox="1"/>
          <p:nvPr/>
        </p:nvSpPr>
        <p:spPr>
          <a:xfrm>
            <a:off x="914400" y="4937760"/>
            <a:ext cx="10332720" cy="1371600"/>
          </a:xfrm>
          <a:prstGeom prst="rect">
            <a:avLst/>
          </a:prstGeom>
          <a:noFill/>
        </p:spPr>
        <p:txBody>
          <a:bodyPr wrap="square">
            <a:spAutoFit/>
          </a:bodyPr>
          <a:lstStyle/>
          <a:p>
            <a:pPr>
              <a:spcBef>
                <a:spcPts val="0"/>
              </a:spcBef>
              <a:defRPr sz="1500">
                <a:solidFill>
                  <a:srgbClr val="334055"/>
                </a:solidFill>
              </a:defRPr>
            </a:pPr>
            <a:r>
              <a:rPr dirty="0"/>
              <a:t>Adaptive difficulty adjusts from a sliding window of three quiz scores</a:t>
            </a:r>
          </a:p>
          <a:p>
            <a:pPr>
              <a:spcBef>
                <a:spcPts val="1600"/>
              </a:spcBef>
              <a:defRPr sz="1500">
                <a:solidFill>
                  <a:srgbClr val="334055"/>
                </a:solidFill>
              </a:defRPr>
            </a:pPr>
            <a:r>
              <a:rPr dirty="0"/>
              <a:t>Gaokao exam prep system built and ready for our target market</a:t>
            </a:r>
          </a:p>
        </p:txBody>
      </p:sp>
      <p:sp>
        <p:nvSpPr>
          <p:cNvPr id="18" name="TextBox 17"/>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097280"/>
            <a:ext cx="9144000" cy="914400"/>
          </a:xfrm>
          <a:prstGeom prst="rect">
            <a:avLst/>
          </a:prstGeom>
          <a:noFill/>
        </p:spPr>
        <p:txBody>
          <a:bodyPr wrap="square">
            <a:spAutoFit/>
          </a:bodyPr>
          <a:lstStyle/>
          <a:p>
            <a:pPr algn="l">
              <a:defRPr sz="3600" b="1">
                <a:solidFill>
                  <a:srgbClr val="0F172A"/>
                </a:solidFill>
              </a:defRPr>
            </a:pPr>
            <a:r>
              <a:t>Next Steps</a:t>
            </a:r>
          </a:p>
        </p:txBody>
      </p:sp>
      <p:sp>
        <p:nvSpPr>
          <p:cNvPr id="4" name="Rectangle 3"/>
          <p:cNvSpPr/>
          <p:nvPr/>
        </p:nvSpPr>
        <p:spPr>
          <a:xfrm>
            <a:off x="1371600" y="1828800"/>
            <a:ext cx="13716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377440"/>
            <a:ext cx="9144000" cy="2286000"/>
          </a:xfrm>
          <a:prstGeom prst="rect">
            <a:avLst/>
          </a:prstGeom>
          <a:noFill/>
        </p:spPr>
        <p:txBody>
          <a:bodyPr wrap="square">
            <a:spAutoFit/>
          </a:bodyPr>
          <a:lstStyle/>
          <a:p>
            <a:pPr>
              <a:spcBef>
                <a:spcPts val="0"/>
              </a:spcBef>
              <a:defRPr sz="1700">
                <a:solidFill>
                  <a:srgbClr val="0F172A"/>
                </a:solidFill>
              </a:defRPr>
            </a:pPr>
            <a:r>
              <a:t>Restore video generation once CJK font rendering is solved</a:t>
            </a:r>
          </a:p>
          <a:p>
            <a:pPr>
              <a:spcBef>
                <a:spcPts val="1600"/>
              </a:spcBef>
              <a:defRPr sz="1700">
                <a:solidFill>
                  <a:srgbClr val="0F172A"/>
                </a:solidFill>
              </a:defRPr>
            </a:pPr>
            <a:r>
              <a:t>Build a mobile app with offline study plan access</a:t>
            </a:r>
          </a:p>
          <a:p>
            <a:pPr>
              <a:spcBef>
                <a:spcPts val="1600"/>
              </a:spcBef>
              <a:defRPr sz="1700">
                <a:solidFill>
                  <a:srgbClr val="0F172A"/>
                </a:solidFill>
              </a:defRPr>
            </a:pPr>
            <a:r>
              <a:t>Integrate with school LMS platforms via LTI 1.3</a:t>
            </a:r>
          </a:p>
        </p:txBody>
      </p:sp>
      <p:sp>
        <p:nvSpPr>
          <p:cNvPr id="6" name="TextBox 5"/>
          <p:cNvSpPr txBox="1"/>
          <p:nvPr/>
        </p:nvSpPr>
        <p:spPr>
          <a:xfrm>
            <a:off x="1371600" y="5029200"/>
            <a:ext cx="9144000" cy="430887"/>
          </a:xfrm>
          <a:prstGeom prst="rect">
            <a:avLst/>
          </a:prstGeom>
          <a:noFill/>
        </p:spPr>
        <p:txBody>
          <a:bodyPr wrap="square">
            <a:spAutoFit/>
          </a:bodyPr>
          <a:lstStyle/>
          <a:p>
            <a:pPr algn="l">
              <a:defRPr sz="2200" b="0">
                <a:solidFill>
                  <a:srgbClr val="2563EB"/>
                </a:solidFill>
              </a:defRPr>
            </a:pPr>
            <a:r>
              <a:rPr dirty="0"/>
              <a:t>Thank you.</a:t>
            </a:r>
          </a:p>
        </p:txBody>
      </p:sp>
      <p:sp>
        <p:nvSpPr>
          <p:cNvPr id="7" name="TextBox 6"/>
          <p:cNvSpPr txBox="1"/>
          <p:nvPr/>
        </p:nvSpPr>
        <p:spPr>
          <a:xfrm>
            <a:off x="11277295" y="6400800"/>
            <a:ext cx="731520" cy="320040"/>
          </a:xfrm>
          <a:prstGeom prst="rect">
            <a:avLst/>
          </a:prstGeom>
          <a:noFill/>
        </p:spPr>
        <p:txBody>
          <a:bodyPr wrap="none">
            <a:spAutoFit/>
          </a:bodyPr>
          <a:lstStyle/>
          <a:p>
            <a:pPr algn="r">
              <a:defRPr sz="900">
                <a:solidFill>
                  <a:srgbClr val="94A3B8"/>
                </a:solidFill>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1030</Words>
  <Application>Microsoft Macintosh PowerPoint</Application>
  <PresentationFormat>Widescreen</PresentationFormat>
  <Paragraphs>99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Qin, Yihao</cp:lastModifiedBy>
  <cp:revision>5</cp:revision>
  <dcterms:created xsi:type="dcterms:W3CDTF">2013-01-27T09:14:16Z</dcterms:created>
  <dcterms:modified xsi:type="dcterms:W3CDTF">2026-05-17T16:54:02Z</dcterms:modified>
  <cp:category/>
</cp:coreProperties>
</file>